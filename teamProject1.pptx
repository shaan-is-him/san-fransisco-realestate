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413" y="7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9432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134E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3200400"/>
            <a:ext cx="2743200" cy="2743200"/>
          </a:xfrm>
          <a:prstGeom prst="ellipse">
            <a:avLst/>
          </a:prstGeom>
          <a:solidFill>
            <a:srgbClr val="134E4A">
              <a:alpha val="30000"/>
            </a:srgbClr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9728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73736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BUILDING PERMITS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ts val="44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CLUSTERING ANALYSIS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8640" y="3200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B8A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Discovering Natural Groups of Construction Projects in San Francisco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2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AGENDA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914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01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1371600" y="8686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Project Goal &amp; Motivation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371600" y="10972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Why cluster building permits?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1444752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15361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02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71600" y="149047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Dataset &amp; Feature Selection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371600" y="171907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What we used and what we deliberately excluded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215798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03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371600" y="211226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Methodology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234086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Preprocessing, choosing k, final model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57200" y="2688336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" y="27797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04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371600" y="273405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Cluster Results &amp; Profiles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371600" y="296265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Three distinct groups of projects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34015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05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71600" y="335584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Neighborhood Analysis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371600" y="3584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Where each type of project concentrates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3931920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0080" y="40233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06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371600" y="3977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Insights, Code &amp; Next Steps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371600" y="420624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Key findings and future work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3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PROJECT GOAL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8229600" cy="1371600"/>
          </a:xfrm>
          <a:prstGeom prst="roundRect">
            <a:avLst>
              <a:gd name="adj" fmla="val 6667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0515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Group building permits by the nature of the project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(size, cost, construction type) then discover which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neighborhoods are associated with each group.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46888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Unsupervised Discovery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94360" y="32004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Let the data reveal natural groups instead of imposing labels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291840" y="24688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91840" y="246888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Actionable Insights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429000" y="32004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Understand where large vs small projects concentrate in the city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26480" y="2468880"/>
            <a:ext cx="269748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2468880"/>
            <a:ext cx="2697480" cy="914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27432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Policy &amp; Planning Value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63640" y="32004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Help city planners anticipate workload by neighborhood type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4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DATASET OVERVIEW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~111k</a:t>
            </a:r>
            <a:endParaRPr lang="en-US" sz="2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Rows after cleaning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606040" y="8686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k = 3</a:t>
            </a:r>
            <a:endParaRPr lang="en-US" sz="2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697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Final clusters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754880" y="8686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SF</a:t>
            </a:r>
            <a:endParaRPr lang="en-US" sz="2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4632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City data source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903720" y="86868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03720" y="1005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Cost &gt; $1k</a:t>
            </a:r>
            <a:endParaRPr lang="en-US" sz="2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99516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Filter applied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Features Used for Clustering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5720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Number of Stories (Existing &amp; Proposed)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54880" y="2697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Number of Units (Existing &amp; Proposed)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Plansets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754880" y="3154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Estimated Cost &amp; Revised Cost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Construction Type codes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754880" y="3611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Permit Type Definition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5720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Existing Use &amp; Proposed Use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754880" y="40690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▸  Construction Type Descriptions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5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KEY DESIGN DECISION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8229600" cy="146304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005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Neighborhood was deliberately EXCLUDED from clustering features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15087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We want the algorithm to group permits by the nature of the project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(size, cost, type of work). Afterwards we examine which neighborhoods appear in each group.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5877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Avoid wrong reasoning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28163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If we include neighborhood, clusters would largely just recreate geographic areas.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2735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Discover project types first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35021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Clustering on physical &amp; cost attributes reveals the real structure of the work.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88620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9593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Then map to location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" y="418795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After clustering we can ask: where do mega-projects vs everyday permits concentrate?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6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METHODOLOGY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8686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417320" y="10515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1124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292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Clean &amp; Filter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Keep Revised Cost &gt; $1,000. Median / Unknown imputation.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46120" y="8686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0515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297680" y="1124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2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38328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Select Features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8328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Size, cost, construction type, permit type, use. Exclude neighborhood.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26480" y="8686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78040" y="10515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11247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3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26364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Preprocess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26364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StandardScaler for numerics + OneHotEncoder for categoricals.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" y="26974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417320" y="28803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4" name="Text 22"/>
          <p:cNvSpPr/>
          <p:nvPr/>
        </p:nvSpPr>
        <p:spPr>
          <a:xfrm>
            <a:off x="1417320" y="2953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4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02920" y="3520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Choose k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02920" y="3840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Elbow method + Silhouette score on a sample.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246120" y="26974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297680" y="28803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9" name="Text 27"/>
          <p:cNvSpPr/>
          <p:nvPr/>
        </p:nvSpPr>
        <p:spPr>
          <a:xfrm>
            <a:off x="4297680" y="2953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5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383280" y="3520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Final Model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3383280" y="3840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KMeans with chosen k on the full dataset.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126480" y="2697480"/>
            <a:ext cx="274320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178040" y="288036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4" name="Text 32"/>
          <p:cNvSpPr/>
          <p:nvPr/>
        </p:nvSpPr>
        <p:spPr>
          <a:xfrm>
            <a:off x="7178040" y="2953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6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6263640" y="35204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Interpret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6263640" y="3840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Profiles + neighborhood distribution + PCA plot.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7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Times New Roman" panose="02020603050405020304" pitchFamily="18" charset="0"/>
              </a:rPr>
              <a:t>CHOOSING THE NUMBER OF CLUSTERS (k)</a:t>
            </a:r>
            <a:endParaRPr lang="en-US" sz="2200" dirty="0">
              <a:latin typeface="Yu Gothic UI Semilight" panose="020B0400000000000000" pitchFamily="34" charset="-128"/>
              <a:ea typeface="Yu Gothic UI Semilight" panose="020B04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822960"/>
            <a:ext cx="4114800" cy="256032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822960"/>
            <a:ext cx="4114800" cy="2560320"/>
          </a:xfrm>
          <a:prstGeom prst="roundRect">
            <a:avLst>
              <a:gd name="adj" fmla="val 3571"/>
            </a:avLst>
          </a:prstGeom>
          <a:solidFill>
            <a:srgbClr val="F1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" y="3566160"/>
            <a:ext cx="8412480" cy="1005840"/>
          </a:xfrm>
          <a:prstGeom prst="roundRect">
            <a:avLst>
              <a:gd name="adj" fmla="val 7273"/>
            </a:avLst>
          </a:prstGeom>
          <a:solidFill>
            <a:srgbClr val="ECFDF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490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65F4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We selected k = 3 for the final model. It provides a clear separation between everyday permits, significant mid/high-rise projects, and rare mega high-rise developments.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49A1E0F-1EB1-2870-3AAB-3772D27A5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667512"/>
            <a:ext cx="9006840" cy="30301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8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FINAL CLUSTERS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914400"/>
            <a:ext cx="2743200" cy="1371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CLUSTER 0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0292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Everyday / Residential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91,932</a:t>
            </a:r>
            <a:endParaRPr lang="en-US" sz="2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0292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permits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~83% of total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46120" y="91440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46120" y="914400"/>
            <a:ext cx="2743200" cy="137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CLUSTER 1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8328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Mid-to-High Rise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8328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17,852</a:t>
            </a:r>
            <a:endParaRPr lang="en-US" sz="2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8328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permits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38328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~16% of total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126480" y="914400"/>
            <a:ext cx="2743200" cy="33832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914400"/>
            <a:ext cx="2743200" cy="1371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626364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CLUSTER 2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263640" y="16002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Mega High-Rise</a:t>
            </a:r>
            <a:endParaRPr lang="en-US" sz="1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26364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1,295</a:t>
            </a:r>
            <a:endParaRPr lang="en-US" sz="26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263640" y="2743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permits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263640" y="3291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~1% of total</a:t>
            </a:r>
            <a:endParaRPr lang="en-US" sz="18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9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274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320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320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Everyday / Residential Permits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91,932 (~83%)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Size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51460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1460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$59,400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51460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Revised Cost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2.7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Stories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6.1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Units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Description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The dominant group of ordinary residential and small scale work. Typical projects include home renovations, minor additions, and low rise multi unit buildings. Costs and building sizes stay low/modest.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Top Neighborhoods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Sunset/Parkside (8.1%)  •  Mission (7.6%)  •  West of Twin Peaks (6.9%)  •  Outer Richmond (5.3%)  •  Noe Valley (5.0%)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Classic residential neighborhoods, exactly where everyday permits are expected to concentrate.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10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274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320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320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Significant Mid-to-High Rise Projects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B82F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17,852 (~16%)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Size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51460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1460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B82F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$212,800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51460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Revised Cost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B82F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17.6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Stories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B82F6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27.1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Units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Description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Substantial commercial and residential projects that are clearly larger than everyday work. Typical mid-to-high-rise buildings with meaningful unit counts and costs in the low hundreds of thousands.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Top Neighborhoods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Financial District / South Beach (56.7%)  •  South of Market (9.6%)  •  Chinatown (5.5%)  •  Western Addition (4.3%)  •  Nob Hill (4.1%)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Strongly concentrated in the downtown core and similar dense neighborhoods.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11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27432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320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37360" y="320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Mega High-Rise Developments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6576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1,295 (~1%)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6576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Size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51460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1460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$248,500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51460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Revised Cost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6344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26.8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Stories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9144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10515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F4444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521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Avg Units</a:t>
            </a:r>
            <a:endParaRPr lang="en-US" sz="12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Description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Rare but extreme projects: very tall buildings with hundreds of units. Although average cost is lower than expected for this scale, the unit count and height clearly identify them as major high-rise developments.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Top Neighborhoods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Financial District / South Beach (36.8%)  •  Tenderloin (30.2%)  •  Mission Bay (8.7%)  •  Western Addition (5.6%)  •  Japantown (5.6%)</a:t>
            </a:r>
            <a:endParaRPr lang="en-US" sz="14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Concentrated in the downtown core and areas of major dense public.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Permits Clustering  |  K-Means 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PROFILES COMPARISON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95921"/>
              </p:ext>
            </p:extLst>
          </p:nvPr>
        </p:nvGraphicFramePr>
        <p:xfrm>
          <a:off x="365760" y="742950"/>
          <a:ext cx="8412480" cy="373888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 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 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Cluster 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 Cost (avg)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$59.4k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$212.8k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$248.5k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Estimated Cost (avg)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$49.6k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$192.1k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$210.8k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Stories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Stories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Units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Units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520.5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Permits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13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NEIGHBORHOOD PATTERNS SUMMARY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109728" cy="10515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005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Residential Neighborhoods → Cluster 0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77240" y="1325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Sunset/Parkside, Mission, West of Twin Peaks, Outer Richmond, and Noe Valley are dominated by everyday low-rise permits.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057400"/>
            <a:ext cx="109728" cy="10515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194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Downtown Core → Clusters 1 &amp; 2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2514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Financial District / South Beach is the clear hotspot (57% of Cluster 1, 37% of Cluster 2). SoMa, Chinatown, and Nob Hill also appear.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383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Tenderloin &amp; Mission Bay → Cluster 2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77240" y="3703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These areas show elevated presence of the rare mega high-rise projects, reflecting dense public and major development activity.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Permits Clustering  |  K-Means 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CLUSTERS IN 2D (PCA VISUALIZATION)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822960"/>
            <a:ext cx="8229600" cy="3200400"/>
          </a:xfrm>
          <a:prstGeom prst="roundRect">
            <a:avLst>
              <a:gd name="adj" fmla="val 2857"/>
            </a:avLst>
          </a:prstGeom>
          <a:solidFill>
            <a:srgbClr val="F1F5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PCA reduces the high-dimensional feature space so we can visually confirm that the three groups are reasonably separated.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31B9311-0AF5-B284-EA0D-94B2F66D20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17220"/>
            <a:ext cx="8229600" cy="35204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Building Permits Clustering  |  K-Means Analysis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15 / 18</a:t>
            </a:r>
            <a:endParaRPr lang="en-US" sz="10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KEY INSIGHTS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Clear Scale Separation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640080" y="1161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K-Means separated permits into everyday work (~83%), significant mid/high-rise (~16%), and rare mega high-rise (~1%) based on size and cost attributes.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1783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Geography Follows Project Type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40080" y="20756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Large projects concentrate heavily in the Financial District / South Beach and Tenderloin. Everyday permits dominate residential neighborhoods.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Design Choice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Excluding neighborhood from the features prevented the model from simply rediscovering geography and forced it to learn project characteristics.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" y="36118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Actionable for Planning</a:t>
            </a:r>
            <a:endParaRPr lang="en-US" sz="15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Yu Gothic UI Semilight" panose="020B0400000000000000" pitchFamily="34" charset="-128"/>
                <a:ea typeface="Yu Gothic UI Semilight" panose="020B0400000000000000" pitchFamily="34" charset="-128"/>
                <a:cs typeface="Arial" pitchFamily="34" charset="-120"/>
              </a:rPr>
              <a:t>City planners can anticipate that a surge in Cluster 1 or 2 permits will heavily impact downtown infrastructure and review resources.</a:t>
            </a:r>
            <a:endParaRPr lang="en-US" sz="1300" dirty="0">
              <a:latin typeface="Yu Gothic UI Semilight" panose="020B0400000000000000" pitchFamily="34" charset="-128"/>
              <a:ea typeface="Yu Gothic UI Semilight" panose="020B0400000000000000" pitchFamily="34" charset="-128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Permits Clustering  |  K-Means Analysis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KEY CODE SNIPPETS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selection (neighborhood excluded)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6012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 = ["Number of Existing Stories", "Number of Proposed Stories",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"Existing Units", "Proposed Units", "Plansets", "Revised Cost",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"Permit Type Definition", "Existing Use", "Proposed Use", ...]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 deliberately left out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Preprocessing + KMeans Pipeline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3774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 = Pipeline([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("preprocessor", ColumnTransformer([...])),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("cluster", KMeans(n_clusters=3, random_state=42, n_init=10))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pipeline.fit(X)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474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Neighborhood analysis after clustering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1E293B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7947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 = pd.crosstab(df_cluster["Cluster"],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df_cluster["Neighborhoods - Analysis Boundaries"], normalize="index")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134E4A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2743200"/>
            <a:ext cx="3200400" cy="3200400"/>
          </a:xfrm>
          <a:prstGeom prst="ellipse">
            <a:avLst/>
          </a:prstGeom>
          <a:solidFill>
            <a:srgbClr val="134E4A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Broadway" panose="04040905080B02020502" pitchFamily="82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000" dirty="0">
              <a:latin typeface="Broadway" panose="04040905080B02020502" pitchFamily="8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2743200"/>
            <a:ext cx="6400800" cy="1280160"/>
          </a:xfrm>
          <a:prstGeom prst="roundRect">
            <a:avLst>
              <a:gd name="adj" fmla="val 7143"/>
            </a:avLst>
          </a:prstGeom>
          <a:solidFill>
            <a:srgbClr val="134E4A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8803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Franklin Gothic Demi Cond" panose="020B0706030402020204" pitchFamily="34" charset="0"/>
                <a:ea typeface="Arial" pitchFamily="34" charset="-122"/>
                <a:cs typeface="Arial" pitchFamily="34" charset="-120"/>
              </a:rPr>
              <a:t>Three clear project types were found:</a:t>
            </a:r>
            <a:endParaRPr lang="en-US" sz="1400" dirty="0">
              <a:latin typeface="Franklin Gothic Demi Cond" panose="020B0706030402020204" pitchFamily="34" charset="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Franklin Gothic Demi Cond" panose="020B0706030402020204" pitchFamily="34" charset="0"/>
                <a:ea typeface="Arial" pitchFamily="34" charset="-122"/>
                <a:cs typeface="Arial" pitchFamily="34" charset="-120"/>
              </a:rPr>
              <a:t>Everyday residential  •  Mid/High-rise  •  Mega high-rise</a:t>
            </a:r>
            <a:endParaRPr lang="en-US" sz="1400" dirty="0">
              <a:latin typeface="Franklin Gothic Demi Cond" panose="020B0706030402020204" pitchFamily="34" charset="0"/>
            </a:endParaRPr>
          </a:p>
          <a:p>
            <a:pPr marL="0" indent="0" algn="ctr">
              <a:buNone/>
            </a:pPr>
            <a:endParaRPr lang="en-US" sz="1400" dirty="0">
              <a:latin typeface="Franklin Gothic Demi Cond" panose="020B0706030402020204" pitchFamily="34" charset="0"/>
            </a:endParaRPr>
          </a:p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Franklin Gothic Demi Cond" panose="020B0706030402020204" pitchFamily="34" charset="0"/>
                <a:ea typeface="Arial" pitchFamily="34" charset="-122"/>
                <a:cs typeface="Arial" pitchFamily="34" charset="-120"/>
              </a:rPr>
              <a:t>Geography follows the nature of the work.</a:t>
            </a:r>
            <a:endParaRPr lang="en-US" sz="1400" dirty="0">
              <a:latin typeface="Franklin Gothic Demi Cond" panose="020B07060304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1373</Words>
  <Application>Microsoft Office PowerPoint</Application>
  <PresentationFormat>On-screen Show (16:9)</PresentationFormat>
  <Paragraphs>261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Yu Gothic UI Semilight</vt:lpstr>
      <vt:lpstr>Arial</vt:lpstr>
      <vt:lpstr>Broadway</vt:lpstr>
      <vt:lpstr>Consolas</vt:lpstr>
      <vt:lpstr>Franklin Gothic Demi Cond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Permits Clustering Analysis</dc:title>
  <dc:subject>K-Means Clustering of San Francisco Building Permits</dc:subject>
  <dc:creator>Data Science Project</dc:creator>
  <cp:lastModifiedBy>Garvil Kapadiya</cp:lastModifiedBy>
  <cp:revision>6</cp:revision>
  <dcterms:created xsi:type="dcterms:W3CDTF">2026-09-13T17:46:53Z</dcterms:created>
  <dcterms:modified xsi:type="dcterms:W3CDTF">2026-09-14T07:06:12Z</dcterms:modified>
</cp:coreProperties>
</file>