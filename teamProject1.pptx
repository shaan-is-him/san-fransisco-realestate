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43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34E4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ANALYSIS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Natural Groups of Construction Projects in San Francisco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14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 &amp; Motivation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cluster building permits?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4447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1490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Feature Selection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17190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used and what we deliberately excluded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6654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1579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1122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3408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Preprocessing, choosing k, final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779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27340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Results &amp; Profiles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29626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distinct groups of projects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355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Analysis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5844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type of project concentrates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Insights, Code &amp; Next Steps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4206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and future work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building permits by the nature of the project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(size, cost, construction type) then discover which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neighborhoods are associated with each group.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data reveal natural groups instead of imposing labels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4688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46888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200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where large vs small projects concentrate in the city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468880"/>
            <a:ext cx="2697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Planning Value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200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city planners anticipate workload by neighborhood type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~111k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after 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clusters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data source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8686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&gt; $1k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applied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 for Clustering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Number of Stories (Existing &amp; Proposed)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Number of Units (Existing &amp; Proposed)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Plansets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Estimated Cost &amp; Revised Cost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Construction Type codes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Permit Type Definition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Existing Use &amp; Proposed 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Construction Type Descriptions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was deliberately EXCLUDED from clustering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the algorithm to group permits by the nature of the project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(size, cost, type of work). Afterwards we examine which neighborhoods appear in each group.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877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wrong reasoning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include neighborhood, clusters would largely just recreate geographic areas.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735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project types first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on physical &amp; cost attributes reveals the real structure of the 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593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map to location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879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clustering we can ask: where do mega-projects vs everyday permits concentrate?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1051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Filter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Revised Cost &gt; $1,000. Median / Unknown imputation.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51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Features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cost, construction type, permit type, use. Exclude neighborhood.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8686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051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1247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for numerics + OneHotEncoder for categoricals.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417320" y="2880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method + Silhouette score on a sample.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2697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2880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with chosen k on the full dataset.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6974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78040" y="2880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364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 + neighborhood distribution + PCA plot.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NUMBER OF CLUSTERS (k)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82296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selected k = 3 for the final model. It provides a clear separation between everyday permits, significant mid/high-rise projects, and rare mega high-rise developments.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9A1E0F-1EB1-2870-3AAB-3772D27A5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667512"/>
            <a:ext cx="9006840" cy="3030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CLUSTERS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27432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/ Residential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91,932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~83% of total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27432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Mid-to-High Rise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17,852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~16% of total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4320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1600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High-Rise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1,295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636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 of total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/ Residential Permits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91,932 (~83%)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$59,400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Revised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Stories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Units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group of ordinary residential and small scale work. Typical projects include home renovations, minor additions, and low rise multi unit buildings. Costs and building sizes stay low/modest.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Neighborhoods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Sunset/Parkside (8.1%)  •  Mission (7.6%)  •  West of Twin Peaks (6.9%)  •  Outer Richmond (5.3%)  •  Noe Valley (5.0%)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residential neighborhoods, exactly where everyday permits are expected to concentrate.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Mid-to-High Rise Projects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17,852 (~16%)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$212,800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Revised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Stories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Units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commercial and residential projects that are clearly larger than everyday work. Typical mid-to-high-rise buildings with meaningful unit counts and costs in the low hundreds of thousands.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Neighborhoods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District / South Beach (56.7%)  •  South of Market (9.6%)  •  Chinatown (5.5%)  •  Western Addition (4.3%)  •  Nob Hill (4.1%)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concentrated in the downtown core and similar dense neighborhoods.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0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High-Rise Developments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1,295 (~1%)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$248,500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Revised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Stories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9144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051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Units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but extreme projects: very tall buildings with hundreds of units. Although average cost is lower than expected for this scale, the unit count and height clearly identify them as major high-rise developments.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Neighborhoods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District / South Beach (36.8%)  •  Tenderloin (30.2%)  •  Mission Bay (8.7%)  •  Western Addition (5.6%)  •  Japantown (5.6%)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in the downtown core and areas of major dense public.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PROFILES COMPARISON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95921"/>
              </p:ext>
            </p:extLst>
          </p:nvPr>
        </p:nvGraphicFramePr>
        <p:xfrm>
          <a:off x="365760" y="742950"/>
          <a:ext cx="8412480" cy="3738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 Cost (avg)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$59.4k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$212.8k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$248.5k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Cost (avg)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$49.6k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$192.1k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$210.8k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Stories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Stories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Units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520.6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Units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Permits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PATTERNS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10972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Residential Neighborhoods → Cluster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325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Sunset/Parkside, Mission, West of Twin Peaks, Outer Richmond, and Noe Valley are dominated by everyday low-rise permits.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57400"/>
            <a:ext cx="109728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94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Core → Clusters 1 &amp;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District / South Beach is the clear hotspot (57% of Cluster 1, 37% of Cluster 2). SoMa, Chinatown, and Nob Hill also appear.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46120"/>
            <a:ext cx="10972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Tenderloin &amp; Mission Bay → Cluster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areas show elevated presence of the rare mega high-rise projects, reflecting dense public and major development activity.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IN 2D (PCA VISUALIZATION)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reduces the high-dimensional feature space so we can visually confirm that the three groups are reasonably separated.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1B9311-0AF5-B284-EA0D-94B2F66D2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7220"/>
            <a:ext cx="8229600" cy="3520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Scale Separation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separated permits into everyday work (~83%), significant mid/high-rise (~16%), and rare mega high-rise (~1%) based on size and cost attributes.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Follows Project Type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075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projects concentrate heavily in the Financial District / South Beach and Tenderloin. Everyday permits dominate residential neighborhoods.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Excluding neighborhood from the features prevented the model from simply rediscovering geography and forced it to learn project characteristics.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for Planning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04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planners can anticipate that a surge in Cluster 1 or 2 permits will heavily impact downtown infrastructure and review resources.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Permits Clustering  |  K-Means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SNIPPETS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(neighborhood excluded)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601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["Number of Existing Stories", "Number of Proposed Stories",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"Existing Units", "Proposed Units", "Plansets", "Revised Cost",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"Permit Type Definition", "Existing Use", "Proposed Use", ...]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Neighborhood deliberately left out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+ KMeans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77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("preprocessor", ColumnTransformer([...])),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("cluster", KMeans(n_clusters=3, random_state=42, n_init=10))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pipeline.fit(X)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analysis after clustering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pd.crosstab(df_cluster["Cluster"],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df_cluster["Neighborhoods - Analysis Boundaries"], normalize="index")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34E4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134E4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134E4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clear project types were found: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residential  •  Mid/High-rise  •  Mega high-rise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follows the nature of the work.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1374</Words>
  <Application>Microsoft Office PowerPoint</Application>
  <PresentationFormat>On-screen Show (16:9)</PresentationFormat>
  <Paragraphs>261</Paragraphs>
  <Slides>17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Permits Clustering Analysis</dc:title>
  <dc:subject>K-Means Clustering of San Francisco Building Permits</dc:subject>
  <dc:creator>Data Science Project</dc:creator>
  <cp:lastModifiedBy>Garvil Kapadiya</cp:lastModifiedBy>
  <cp:revision>3</cp:revision>
  <dcterms:created xsi:type="dcterms:W3CDTF">2026-09-13T17:46:53Z</dcterms:created>
  <dcterms:modified xsi:type="dcterms:W3CDTF">2026-09-13T18:11:40Z</dcterms:modified>
</cp:coreProperties>
</file>